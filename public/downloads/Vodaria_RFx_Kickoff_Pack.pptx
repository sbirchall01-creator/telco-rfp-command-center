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Birchall" userId="f838c2b0-7cf1-4907-a20b-349462c496a7" providerId="ADAL" clId="{B9E9EB7E-85DC-4400-A145-EFBF7E4FB0AE}"/>
    <pc:docChg chg="custSel modSld">
      <pc:chgData name="Scott Birchall" userId="f838c2b0-7cf1-4907-a20b-349462c496a7" providerId="ADAL" clId="{B9E9EB7E-85DC-4400-A145-EFBF7E4FB0AE}" dt="2026-10-08T08:57:06.041" v="0" actId="27636"/>
      <pc:docMkLst>
        <pc:docMk/>
      </pc:docMkLst>
      <pc:sldChg chg="modSp mod">
        <pc:chgData name="Scott Birchall" userId="f838c2b0-7cf1-4907-a20b-349462c496a7" providerId="ADAL" clId="{B9E9EB7E-85DC-4400-A145-EFBF7E4FB0AE}" dt="2026-10-08T08:57:06.041" v="0" actId="27636"/>
        <pc:sldMkLst>
          <pc:docMk/>
          <pc:sldMk cId="0" sldId="258"/>
        </pc:sldMkLst>
        <pc:spChg chg="mod">
          <ac:chgData name="Scott Birchall" userId="f838c2b0-7cf1-4907-a20b-349462c496a7" providerId="ADAL" clId="{B9E9EB7E-85DC-4400-A145-EFBF7E4FB0AE}" dt="2026-10-08T08:57:06.041" v="0" actId="27636"/>
          <ac:spMkLst>
            <pc:docMk/>
            <pc:sldMk cId="0" sldId="258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944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HANSEN | RFP KICK-OFF PACK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0" y="2560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57786"/>
                </a:solidFill>
              </a:rPr>
              <a:t>CONFIDENTIAL &amp; PROPRIETARY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2700">
            <a:solidFill>
              <a:srgbClr val="D7DE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57786"/>
                </a:solidFill>
              </a:rPr>
              <a:t>Arelion FENIX | Worked example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" name="Shape 0"/>
          <p:cNvSpPr/>
          <p:nvPr/>
        </p:nvSpPr>
        <p:spPr>
          <a:xfrm>
            <a:off x="5989320" y="0"/>
            <a:ext cx="502920" cy="6858000"/>
          </a:xfrm>
          <a:prstGeom prst="rect">
            <a:avLst/>
          </a:prstGeom>
          <a:solidFill>
            <a:srgbClr val="102C45">
              <a:alpha val="85000"/>
            </a:srgbClr>
          </a:solidFill>
          <a:ln w="12700">
            <a:solidFill>
              <a:srgbClr val="102C4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594360" y="731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F28C28"/>
                </a:solidFill>
              </a:rPr>
              <a:t>Vodaria Group · Converged BSS Transformation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</a:rPr>
              <a:t>RFx response</a:t>
            </a:r>
            <a:br/>
            <a:r>
              <a:t>kick-off pack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21792" y="26974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>
                <a:solidFill>
                  <a:srgbClr val="DDE8F0"/>
                </a:solidFill>
              </a:rPr>
              <a:t>Reusable baseline for cross-functional RFx mobilisation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21792" y="3474720"/>
            <a:ext cx="1005840" cy="1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21792" y="376732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Purpose: align scope, ownership, decisions, evidence and review gates before response work accelerates.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1792" y="6126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AFC2D0"/>
                </a:solidFill>
              </a:rPr>
              <a:t>Internal template | October 2026</a:t>
            </a:r>
            <a:endParaRPr lang="en-US" sz="1000" dirty="0"/>
          </a:p>
        </p:txBody>
      </p:sp>
      <p:sp>
        <p:nvSpPr>
          <p:cNvPr id="10" name="Rectangle 9"/>
          <p:cNvSpPr/>
          <p:nvPr/>
        </p:nvSpPr>
        <p:spPr>
          <a:xfrm>
            <a:off x="6309360" y="0"/>
            <a:ext cx="5870448" cy="6858000"/>
          </a:xfrm>
          <a:prstGeom prst="rect">
            <a:avLst/>
          </a:prstGeom>
          <a:solidFill>
            <a:srgbClr val="E6ECF1"/>
          </a:solidFill>
          <a:ln>
            <a:solidFill>
              <a:srgbClr val="AFC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657786"/>
                </a:solidFill>
              </a:rPr>
              <a:t>Vodaria Group — Converged BSS Transformation (RFP OPP-24-0981)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Kick-off outcomes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meeting is complete when the wider team understands the bid and accepts how the response will be run.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5800" y="16093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8988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Shared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11880" y="149047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213547"/>
                </a:solidFill>
              </a:rPr>
              <a:t>Why the customer is buying and what the programme must change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386584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85800" y="24871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89888" y="2368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Scope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11880" y="2368296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In scope, out of scope, dependencies and open questions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264408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85800" y="33649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89888" y="3246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Solution direction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11880" y="32461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A testable hypothesis, not a premature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14223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4242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89888" y="41239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Mobilised team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11880" y="4123944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Functions, owners, escalation paths and decision rights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020056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5800" y="51206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89888" y="5001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Controlled plan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11880" y="500176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WBS, dates, review gates, evidence and working practices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Customer context and opportunity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>Vodaria Group, a tier-1 converged operator, has issued an RFP to replace fragmented legacy BSS with a single cloud-native create–sell–deliver platform across B2C and B2B.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2971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73152" cy="18288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868680" y="15819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Business context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1984248"/>
            <a:ext cx="25603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Tier-1 converged operator: fixed, mobile and enterprise across 6 EU markets, ~28M subscribers</a:t>
            </a:r>
            <a:br/>
            <a:r>
              <a:t>Group strategy targets B2B growth and 5G SA monetisation by 2028</a:t>
            </a:r>
            <a:br/>
            <a:r>
              <a:t>Six product catalogues, manual quote-to-order and 10-day tariff launches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417320"/>
            <a:ext cx="2971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840480" y="1417320"/>
            <a:ext cx="73152" cy="18288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069080" y="15819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Transformation intent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069080" y="1984248"/>
            <a:ext cx="25603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r>
              <a:rPr sz="1050">
                <a:solidFill>
                  <a:srgbClr val="213547"/>
                </a:solidFill>
              </a:rPr>
              <a:t>Single catalogue-driven lead-to-cash model across B2C, B2B and converged</a:t>
            </a:r>
            <a:br/>
            <a:r>
              <a:t>Zero-touch order flow-through above 90%; tariff launch in under 5 days</a:t>
            </a:r>
            <a:br/>
            <a:r>
              <a:t>Retain Salesforce CRM and SAP ERP; replace legacy CPQ, order management, charging and billing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40080" y="3520440"/>
            <a:ext cx="73152" cy="192024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868680" y="368503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What this means for the response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087368"/>
            <a:ext cx="5760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Faster time-to-market, lower cost-to-serve, converged customer experience</a:t>
            </a:r>
            <a:br/>
            <a:r>
              <a:t>Proven tier-1 delivery with a phased, low-risk migration</a:t>
            </a:r>
            <a:br/>
            <a:r>
              <a:t>EU sovereign hosting and certified TM Forum Open APIs are mandatory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132320" y="1325880"/>
            <a:ext cx="4526280" cy="4480560"/>
          </a:xfrm>
          <a:prstGeom prst="rect">
            <a:avLst/>
          </a:prstGeom>
          <a:solidFill>
            <a:srgbClr val="E6ECF1"/>
          </a:solidFill>
          <a:ln>
            <a:solidFill>
              <a:srgbClr val="AFC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657786"/>
                </a:solidFill>
              </a:rPr>
              <a:t>Vodaria Group — Converged BSS Transformation (RFP OPP-24-0981)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Scope baseline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kick-off should make the response boundary visible before detailed ownership and estimation begin.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3152" cy="4343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IN SCOPE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Product Catalog (B2C, B2B, converged)</a:t>
            </a:r>
            <a:br/>
            <a:r>
              <a:t>Configure Price Quote (CPQ)</a:t>
            </a:r>
            <a:br/>
            <a:r>
              <a:t>Order Management &amp; decomposition</a:t>
            </a:r>
            <a:br/>
            <a:r>
              <a:t>Converged online charging (5G SA CHF)</a:t>
            </a:r>
            <a:br/>
            <a:r>
              <a:t>Convergent billing</a:t>
            </a:r>
            <a:br/>
            <a:r>
              <a:t>Operational visibility &amp; fallout management</a:t>
            </a:r>
            <a:br/>
            <a:r>
              <a:t>TMF Open API integration, migration, testing and managed service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73152" cy="4343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BOUNDARY / DEPENDENCY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Salesforce CRM (customer system of record)</a:t>
            </a:r>
            <a:br/>
            <a:r>
              <a:t>SAP ERP finance programme</a:t>
            </a:r>
            <a:br/>
            <a:r>
              <a:t>Network inventory (Vodaria NetCracker instance)</a:t>
            </a:r>
            <a:br/>
            <a:r>
              <a:t>Payment gateway and print-stream partner (AFP)</a:t>
            </a:r>
            <a:br/>
            <a:r>
              <a:t>AI root-cause roadmap item (2027) — subject to Product approval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73152" cy="4343400"/>
          </a:xfrm>
          <a:prstGeom prst="rect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NOT ASSUMED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CRM replacement</a:t>
            </a:r>
            <a:br/>
            <a:r>
              <a:t>Network provisioning / activation</a:t>
            </a:r>
            <a:br/>
            <a:r>
              <a:t>Mainframe AFP print generation (partner-led)</a:t>
            </a:r>
            <a:br/>
            <a:r>
              <a:t>Data cleansing of legacy source systems</a:t>
            </a:r>
            <a:br/>
            <a:r>
              <a:t>Hardware procurement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Solution hypothesis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>Hansen Catalog, CPQ, Order Management and Charging form a single cloud-native BSS core, integrated with Vodaria's retained Salesforce CRM via TMF Open APIs and events.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DCE7E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48463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Salesforce CRM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9339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33172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40487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Hansen CPQ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1363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25196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2511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Commercial approval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3387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17220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24535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Hansen Order Management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5411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09244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6559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Portfolio &amp; visibility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7435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0104120" y="2286000"/>
            <a:ext cx="1600200" cy="914400"/>
          </a:xfrm>
          <a:prstGeom prst="roundRect">
            <a:avLst>
              <a:gd name="adj" fmla="val 7000"/>
            </a:avLst>
          </a:prstGeom>
          <a:solidFill>
            <a:srgbClr val="DCE7E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0177272" y="2551176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SAP ERP · Network inventory · Payments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011680" y="3822192"/>
            <a:ext cx="8138160" cy="1143000"/>
          </a:xfrm>
          <a:prstGeom prst="roundRect">
            <a:avLst>
              <a:gd name="adj" fmla="val 6400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0" y="4114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Governed product, pricing, compatibility, dependency and decomposition logic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API-first integration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92608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99923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Event-enabled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2064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9379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Cloud-native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8835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Outcome-led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50976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58291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Evidence-based</a:t>
            </a:r>
            <a:endParaRPr 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Assumptions and validation priorities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Assumptions are working controls. Each needs an owner, evidence source and resolution date in the WBS/RAID.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927080" cy="396849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Theme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Working assumption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Validation owner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CRM &amp; integration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Salesforce remains system of record; integrate via TMF620/648/622 APIs.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EA / CPQ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Adjacent platforms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SAP ERP and network inventory interfaces owned by Vodaria IT; availability to confirm.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EA / Delivery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Scope maturity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8-week discovery, then fixed-scope phases with joint change board.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PM / Sales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Hosting &amp; support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EU sovereign cloud (Frankfurt), 4 environments, 24x7 L2/L3 support.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Infra / Support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AI / MCP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MCP interface for AI agents; AI root-cause is roadmap (2027).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Product / Security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>Hansen SIT; Vodaria UAT with masked production data and named approvers.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Delivery / Customer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6053328"/>
            <a:ext cx="10927080" cy="310896"/>
          </a:xfrm>
          <a:prstGeom prst="roundRect">
            <a:avLst>
              <a:gd name="adj" fmla="val 14706"/>
            </a:avLst>
          </a:prstGeom>
          <a:solidFill>
            <a:srgbClr val="FFF1E6"/>
          </a:solidFill>
          <a:ln w="12700">
            <a:solidFill>
              <a:srgbClr val="F6C2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841248" y="6117336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4B08"/>
                </a:solidFill>
              </a:rPr>
              <a:t>Kick-off action: confirm which assumptions must be validated before solution baseline, estimate lock or bid approval.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Impacted functions and engagement 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Bring functions in at the point where their decision or evidence changes the response, not only at final review.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Sales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Customer strategy, win themes, commercials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Pre-Sales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Governance, solution, response quality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Project Management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WBS, RAID, estimates, delivery review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4008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6868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Product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Capability evidence, gaps and roadmap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34340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57200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Enterprise Architecture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Boundaries, integration and NFRs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04672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7532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Delivery SMEs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Implementation, migration and operations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4008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6868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Security &amp; Privacy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6868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Security directives, assurance evidence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4340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34340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57200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Infrastructure / SaaS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Environments, sizing, service model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4672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04672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27532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Managed Support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27532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Coverage, L1-L3 boundary, SLAs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6868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Commercial &amp; Finance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6868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Price model, approval and assumptions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4340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434340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7200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Legal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57200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Terms, disclaimers and exceptions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04672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04672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27532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Training / Adoption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27532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Enablement and transition approach</a:t>
            </a:r>
            <a:endParaRPr lang="en-US" sz="105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Worked example timeline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>Populate the live procurement milestones and internal gates during mobilisation.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0515600" cy="1"/>
          </a:xfrm>
          <a:prstGeom prst="line">
            <a:avLst/>
          </a:prstGeom>
          <a:noFill/>
          <a:ln w="508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13232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38912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02 Oct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456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RFx issued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12848" y="2770632"/>
            <a:ext cx="219456" cy="219456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938528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10 Oct 2026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19072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Internal kick-off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12464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38144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28 Oct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Clarification deadline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937760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06 Nov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18304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Target content complete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11696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37376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10 Nov 2026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Proposal review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11312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936992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13 Nov 2026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17536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Submission deadline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10928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36608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11 Nov 2026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17152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Bid / cost reviews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210544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0936224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>02 Dec 2026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16768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Evaluation milestone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4846320"/>
            <a:ext cx="10241280" cy="731520"/>
          </a:xfrm>
          <a:prstGeom prst="roundRect">
            <a:avLst>
              <a:gd name="adj" fmla="val 8750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234440" y="5074920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Planning rule: work backwards from submission. Lock gates first, then reviews, authoring, estimation, clarification and mobilisation.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Review gates and evidence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A gate is a decision supported by evidence, not simply a meeting in the diary.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Mobilised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94760" y="138074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Team, workspace, WBS, RAID, cadence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0299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Requirements understood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94760" y="203911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Allocated sources, questions, scope and assumptions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70048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277977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68833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Solution baseline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94760" y="2697480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Architecture, delivery, demo, estimate and dependencies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3438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334670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Content complete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94760" y="3355848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Proposal, workbook, annexes, evidence, costs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986784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" y="409651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400507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Bid approved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94760" y="4014216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Delivery, legal, security, commercial and executive conditions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645152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0080" y="4754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54480" y="4663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Submitted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794760" y="467258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Quality check, controlled issue and acknowledgement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0080" y="54132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554480" y="532180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Closed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94760" y="533095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Follow-up, outcome, retrospective and archive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Working practices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kick-off should end with explicit team behaviours and immediate actions.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3152" cy="397764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Control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One controlled workspace and latest-version links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Customer templates and structures preserved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Decisions, assumptions and changes recorded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Evidence linked to each claim and compliance answer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No uncontrolled placeholders at content complete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73152" cy="397764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Collaboration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Named owners and backups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Short regular progress cadence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Escalate blockers early through agreed paths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Cross-functional reviews before final assurance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Use customer terminology and outcome-led narrative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73152" cy="39776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Kick-off actions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Confirm initial scope and solution hypothesis</a:t>
            </a:r>
            <a:br/>
            <a:r>
              <a:t>Confirm function leads and WBS ownership</a:t>
            </a:r>
            <a:br/>
            <a:r>
              <a:t>Validate milestone and gate dates</a:t>
            </a:r>
            <a:br/>
            <a:r>
              <a:t>Assign assumptions and clarification questions</a:t>
            </a:r>
            <a:br/>
            <a:r>
              <a:t>Confirm next cadence and first deliverables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88720" y="562356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508760" y="5788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Definition of success: one team, one plan, one evidence-backed response baseline.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eafdc89-da5a-4ba8-9d40-876454d16f0a" xsi:nil="true"/>
    <lcf76f155ced4ddcb4097134ff3c332f xmlns="d97d857f-98df-4f81-a30d-ddd847a547e5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8C934CD1995843A8D5590A15396649" ma:contentTypeVersion="11" ma:contentTypeDescription="Create a new document." ma:contentTypeScope="" ma:versionID="850618bc980adae4c2f11b4e521af0bc">
  <xsd:schema xmlns:xsd="http://www.w3.org/2001/XMLSchema" xmlns:xs="http://www.w3.org/2001/XMLSchema" xmlns:p="http://schemas.microsoft.com/office/2006/metadata/properties" xmlns:ns2="d97d857f-98df-4f81-a30d-ddd847a547e5" xmlns:ns3="7eafdc89-da5a-4ba8-9d40-876454d16f0a" targetNamespace="http://schemas.microsoft.com/office/2006/metadata/properties" ma:root="true" ma:fieldsID="c55f33d1a94ec269bbd4ef2033909e18" ns2:_="" ns3:_="">
    <xsd:import namespace="d97d857f-98df-4f81-a30d-ddd847a547e5"/>
    <xsd:import namespace="7eafdc89-da5a-4ba8-9d40-876454d16f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7d857f-98df-4f81-a30d-ddd847a547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caf9ed05-ccde-4142-8908-f9d7d17b47f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afdc89-da5a-4ba8-9d40-876454d16f0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96524ca-95c6-493f-a879-1d23ed55c1bc}" ma:internalName="TaxCatchAll" ma:showField="CatchAllData" ma:web="7eafdc89-da5a-4ba8-9d40-876454d16f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0AF055E-E042-4099-9E6C-38C6F3C3C934}">
  <ds:schemaRefs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d97d857f-98df-4f81-a30d-ddd847a547e5"/>
    <ds:schemaRef ds:uri="7eafdc89-da5a-4ba8-9d40-876454d16f0a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6CC6610-9C1D-411B-A51C-52572E16A4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83BD43-3E3F-4D1A-BB93-3DE950D7B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97d857f-98df-4f81-a30d-ddd847a547e5"/>
    <ds:schemaRef ds:uri="7eafdc89-da5a-4ba8-9d40-876454d16f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1015</Words>
  <Application>Microsoft Office PowerPoint</Application>
  <PresentationFormat>Widescreen</PresentationFormat>
  <Paragraphs>182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Hansen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Hansen RFx Response Kick-off Pack Template</dc:title>
  <dc:subject>Reusable internal template for mobilisation of RFP and RFx responses</dc:subject>
  <dc:creator>Scott Birchall</dc:creator>
  <cp:keywords>Hansen, RFx, RFP, kick-off, template, pre-sales</cp:keywords>
  <dc:description>Customer-specific data removed; bracketed fields are intended for opportunity-specific completion.</dc:description>
  <cp:lastModifiedBy>Scott Birchall</cp:lastModifiedBy>
  <cp:revision>2</cp:revision>
  <dcterms:created xsi:type="dcterms:W3CDTF">2026-10-08T08:52:42Z</dcterms:created>
  <dcterms:modified xsi:type="dcterms:W3CDTF">2026-10-08T08:57:15Z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0x010100648C934CD1995843A8D5590A15396649</vt:lpwstr>
  </property>
  <property fmtid="{D5CDD505-2E9C-101B-9397-08002B2CF9AE}" pid="3" name="MSIP_Label_5c8f76e0-d66d-4ace-a8e8-fdc545fae579_Enabled">
    <vt:lpwstr>true</vt:lpwstr>
  </property>
  <property fmtid="{D5CDD505-2E9C-101B-9397-08002B2CF9AE}" pid="4" name="MSIP_Label_5c8f76e0-d66d-4ace-a8e8-fdc545fae579_SetDate">
    <vt:lpwstr>2026-10-08T08:52:42Z</vt:lpwstr>
  </property>
  <property fmtid="{D5CDD505-2E9C-101B-9397-08002B2CF9AE}" pid="5" name="MSIP_Label_5c8f76e0-d66d-4ace-a8e8-fdc545fae579_Method">
    <vt:lpwstr>Privileged</vt:lpwstr>
  </property>
  <property fmtid="{D5CDD505-2E9C-101B-9397-08002B2CF9AE}" pid="6" name="MSIP_Label_5c8f76e0-d66d-4ace-a8e8-fdc545fae579_Name">
    <vt:lpwstr>Internal</vt:lpwstr>
  </property>
  <property fmtid="{D5CDD505-2E9C-101B-9397-08002B2CF9AE}" pid="7" name="MSIP_Label_5c8f76e0-d66d-4ace-a8e8-fdc545fae579_SiteId">
    <vt:lpwstr>cdc4b90d-7fa9-4a12-8d58-c2872266673c</vt:lpwstr>
  </property>
  <property fmtid="{D5CDD505-2E9C-101B-9397-08002B2CF9AE}" pid="8" name="MSIP_Label_5c8f76e0-d66d-4ace-a8e8-fdc545fae579_ActionId">
    <vt:lpwstr>218b5bf2-31f1-4cda-aaf7-709e18cd5b87</vt:lpwstr>
  </property>
  <property fmtid="{D5CDD505-2E9C-101B-9397-08002B2CF9AE}" pid="9" name="MSIP_Label_5c8f76e0-d66d-4ace-a8e8-fdc545fae579_ContentBits">
    <vt:lpwstr>0</vt:lpwstr>
  </property>
  <property fmtid="{D5CDD505-2E9C-101B-9397-08002B2CF9AE}" pid="10" name="MediaServiceImageTags">
    <vt:lpwstr/>
  </property>
</Properties>
</file>